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>
                <a:solidFill>
                  <a:srgbClr val="0B2545"/>
                </a:solidFill>
                <a:latin typeface="Calibri"/>
                <a:ea typeface="Microsoft YaHei"/>
              </a:rPr>
              <a:t>周活成员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周活</c:v>
                </c:pt>
              </c:strCache>
            </c:strRef>
          </c:tx>
          <c:spPr>
            <a:solidFill>
              <a:srgbClr val="0B2545"/>
            </a:solidFill>
          </c:spPr>
          <c:cat>
            <c:strRef>
              <c:f>Sheet1!$A$2:$A$4</c:f>
              <c:strCache>
                <c:ptCount val="3"/>
                <c:pt idx="0">
                  <c:v>7 月</c:v>
                </c:pt>
                <c:pt idx="1">
                  <c:v>8 月</c:v>
                </c:pt>
                <c:pt idx="2">
                  <c:v>9 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321.0</c:v>
                </c:pt>
                <c:pt idx="1">
                  <c:v>360.0</c:v>
                </c:pt>
                <c:pt idx="2">
                  <c:v>412.0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议程页控制在一分钟内，标题写成本次汇报要回答的问题。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备注里放讲稿或数据来源，页面只留结论。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47483660" name="Brand footer bar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483661" name="Brand footer accent"/>
          <p:cNvSpPr/>
          <p:nvPr/>
        </p:nvSpPr>
        <p:spPr>
          <a:xfrm>
            <a:off x="0" y="6748272"/>
            <a:ext cx="1463040" cy="109728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26" y="3977639"/>
            <a:ext cx="1463040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26" y="1508760"/>
            <a:ext cx="8875554" cy="2331720"/>
          </a:xfrm>
          <a:prstGeom prst="rect">
            <a:avLst/>
          </a:prstGeom>
          <a:noFill/>
        </p:spPr>
        <p:txBody>
          <a:bodyPr wrap="square" anchor="b" lIns="73152" rIns="73152" tIns="36576" bIns="36576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</a:rPr>
              <a:t>EFP 企业演示模板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4183380"/>
            <a:ext cx="8875554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3F4F6"/>
                </a:solidFill>
                <a:latin typeface="Calibri"/>
                <a:ea typeface="Microsoft YaHei"/>
              </a:rPr>
              <a:t>文字示例与版式参考 · 正式内容请用 /pptx-brand 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26" y="5760720"/>
            <a:ext cx="776611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  <a:latin typeface="Calibri"/>
                <a:ea typeface="Microsoft YaHei"/>
              </a:rPr>
              <a:t>平台团队 ·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26" y="411480"/>
            <a:ext cx="11094443" cy="822960"/>
          </a:xfrm>
          <a:prstGeom prst="rect">
            <a:avLst/>
          </a:prstGeom>
          <a:noFill/>
        </p:spPr>
        <p:txBody>
          <a:bodyPr wrap="square" anchor="b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  <a:ea typeface="Microsoft YaHei"/>
              </a:rPr>
              <a:t>议程页：一句话说明本次汇报要回答的问题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26" y="1268730"/>
            <a:ext cx="100584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26" y="6343650"/>
            <a:ext cx="776611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EFP · 内部资料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89" y="634365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26" y="1440180"/>
            <a:ext cx="11094443" cy="4663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marL="292608" indent="-256032">
              <a:spcBef>
                <a:spcPts val="400"/>
              </a:spcBef>
              <a:spcAft>
                <a:spcPts val="200"/>
              </a:spcAft>
              <a:buClr>
                <a:srgbClr val="E8590C"/>
              </a:buClr>
              <a:buChar char="•"/>
            </a:pPr>
            <a:r>
              <a:rPr sz="2200" b="0" i="0">
                <a:solidFill>
                  <a:srgbClr val="1F2933"/>
                </a:solidFill>
                <a:latin typeface="Calibri"/>
                <a:ea typeface="Microsoft YaHei"/>
              </a:rPr>
              <a:t>现状：采用率与稳定性</a:t>
            </a:r>
          </a:p>
          <a:p>
            <a:pPr marL="292608" indent="-256032">
              <a:spcBef>
                <a:spcPts val="400"/>
              </a:spcBef>
              <a:spcAft>
                <a:spcPts val="200"/>
              </a:spcAft>
              <a:buClr>
                <a:srgbClr val="E8590C"/>
              </a:buClr>
              <a:buChar char="•"/>
            </a:pPr>
            <a:r>
              <a:rPr sz="2200" b="0" i="0">
                <a:solidFill>
                  <a:srgbClr val="1F2933"/>
                </a:solidFill>
                <a:latin typeface="Calibri"/>
                <a:ea typeface="Microsoft YaHei"/>
              </a:rPr>
              <a:t>本季度交付了什么</a:t>
            </a:r>
          </a:p>
          <a:p>
            <a:pPr marL="292608" indent="-256032">
              <a:spcBef>
                <a:spcPts val="400"/>
              </a:spcBef>
              <a:spcAft>
                <a:spcPts val="200"/>
              </a:spcAft>
              <a:buClr>
                <a:srgbClr val="E8590C"/>
              </a:buClr>
              <a:buChar char="•"/>
            </a:pPr>
            <a:r>
              <a:rPr sz="2200" b="0" i="0">
                <a:solidFill>
                  <a:srgbClr val="1F2933"/>
                </a:solidFill>
                <a:latin typeface="Calibri"/>
                <a:ea typeface="Microsoft YaHei"/>
              </a:rPr>
              <a:t>成本与用量趋势</a:t>
            </a:r>
          </a:p>
          <a:p>
            <a:pPr marL="292608" indent="-256032">
              <a:spcBef>
                <a:spcPts val="400"/>
              </a:spcBef>
              <a:spcAft>
                <a:spcPts val="200"/>
              </a:spcAft>
              <a:buClr>
                <a:srgbClr val="E8590C"/>
              </a:buClr>
              <a:buChar char="•"/>
            </a:pPr>
            <a:r>
              <a:rPr sz="2200" b="0" i="0">
                <a:solidFill>
                  <a:srgbClr val="1F2933"/>
                </a:solidFill>
                <a:latin typeface="Calibri"/>
                <a:ea typeface="Microsoft YaHei"/>
              </a:rPr>
              <a:t>风险与下季度诉求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46" y="2057400"/>
            <a:ext cx="9430276" cy="1714500"/>
          </a:xfrm>
          <a:prstGeom prst="rect">
            <a:avLst/>
          </a:prstGeom>
          <a:noFill/>
        </p:spPr>
        <p:txBody>
          <a:bodyPr wrap="square" anchor="b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0B2545"/>
                </a:solidFill>
                <a:latin typeface="Calibri"/>
                <a:ea typeface="Microsoft YaHei"/>
              </a:rPr>
              <a:t>分节页：用一个短语概括本节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46" y="3840480"/>
            <a:ext cx="9430276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Calibri"/>
                <a:ea typeface="Microsoft YaHei"/>
              </a:rPr>
              <a:t>副标题补一句本节的结论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6343650"/>
            <a:ext cx="776611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EFP · 内部资料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89" y="634365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26" y="411480"/>
            <a:ext cx="11094443" cy="822960"/>
          </a:xfrm>
          <a:prstGeom prst="rect">
            <a:avLst/>
          </a:prstGeom>
          <a:noFill/>
        </p:spPr>
        <p:txBody>
          <a:bodyPr wrap="square" anchor="b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  <a:ea typeface="Microsoft YaHei"/>
              </a:rPr>
              <a:t>要点页：标题是结论，不是主题词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26" y="1268730"/>
            <a:ext cx="100584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26" y="6343650"/>
            <a:ext cx="776611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EFP · 内部资料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89" y="634365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26" y="1440180"/>
            <a:ext cx="11094443" cy="4663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marL="292608" indent="-256032">
              <a:spcBef>
                <a:spcPts val="400"/>
              </a:spcBef>
              <a:spcAft>
                <a:spcPts val="200"/>
              </a:spcAft>
              <a:buClr>
                <a:srgbClr val="E8590C"/>
              </a:buClr>
              <a:buChar char="•"/>
            </a:pPr>
            <a:r>
              <a:rPr sz="2200" b="0" i="0">
                <a:solidFill>
                  <a:srgbClr val="1F2933"/>
                </a:solidFill>
                <a:latin typeface="Calibri"/>
                <a:ea typeface="Microsoft YaHei"/>
              </a:rPr>
              <a:t>每页最多六条，每条一句话，二十字左右</a:t>
            </a:r>
          </a:p>
          <a:p>
            <a:pPr marL="292608" indent="-256032">
              <a:spcBef>
                <a:spcPts val="400"/>
              </a:spcBef>
              <a:spcAft>
                <a:spcPts val="200"/>
              </a:spcAft>
              <a:buClr>
                <a:srgbClr val="E8590C"/>
              </a:buClr>
              <a:buChar char="•"/>
            </a:pPr>
            <a:r>
              <a:rPr sz="2200" b="0" i="0">
                <a:solidFill>
                  <a:srgbClr val="1F2933"/>
                </a:solidFill>
                <a:latin typeface="Calibri"/>
                <a:ea typeface="Microsoft YaHei"/>
              </a:rPr>
              <a:t>先说结论，再说依据；数字进 KPI 页或图表页</a:t>
            </a:r>
          </a:p>
          <a:p>
            <a:pPr marL="640080" indent="-256032">
              <a:spcBef>
                <a:spcPts val="100"/>
              </a:spcBef>
              <a:spcAft>
                <a:spcPts val="200"/>
              </a:spcAft>
              <a:buClr>
                <a:srgbClr val="6B7280"/>
              </a:buClr>
              <a:buChar char="–"/>
            </a:pP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</a:rPr>
              <a:t>二级要点只用来补充证据或例子</a:t>
            </a:r>
          </a:p>
          <a:p>
            <a:pPr marL="292608" indent="-256032">
              <a:spcBef>
                <a:spcPts val="400"/>
              </a:spcBef>
              <a:spcAft>
                <a:spcPts val="200"/>
              </a:spcAft>
              <a:buClr>
                <a:srgbClr val="E8590C"/>
              </a:buClr>
              <a:buChar char="•"/>
            </a:pPr>
            <a:r>
              <a:rPr sz="2200" b="0" i="0">
                <a:solidFill>
                  <a:srgbClr val="1F2933"/>
                </a:solidFill>
                <a:latin typeface="Calibri"/>
                <a:ea typeface="Microsoft YaHei"/>
              </a:rPr>
              <a:t>动词开头，避免形容词堆砌</a:t>
            </a:r>
          </a:p>
          <a:p>
            <a:pPr marL="292608" indent="-256032">
              <a:spcBef>
                <a:spcPts val="400"/>
              </a:spcBef>
              <a:spcAft>
                <a:spcPts val="200"/>
              </a:spcAft>
              <a:buClr>
                <a:srgbClr val="E8590C"/>
              </a:buClr>
              <a:buChar char="•"/>
            </a:pPr>
            <a:r>
              <a:rPr sz="2200" b="0" i="0">
                <a:solidFill>
                  <a:srgbClr val="1F2933"/>
                </a:solidFill>
                <a:latin typeface="Calibri"/>
                <a:ea typeface="Microsoft YaHei"/>
              </a:rPr>
              <a:t>细节写进备注，不要塞进页面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26" y="411480"/>
            <a:ext cx="11094443" cy="822960"/>
          </a:xfrm>
          <a:prstGeom prst="rect">
            <a:avLst/>
          </a:prstGeom>
          <a:noFill/>
        </p:spPr>
        <p:txBody>
          <a:bodyPr wrap="square" anchor="b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  <a:ea typeface="Microsoft YaHei"/>
              </a:rPr>
              <a:t>对比页：左右各说一件事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26" y="1268730"/>
            <a:ext cx="100584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26" y="6343650"/>
            <a:ext cx="776611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EFP · 内部资料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89" y="634365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26" y="1440180"/>
            <a:ext cx="5318621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  <a:ea typeface="Microsoft YaHei"/>
              </a:rP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26" y="2034540"/>
            <a:ext cx="5318621" cy="4069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marL="292608" indent="-256032">
              <a:spcBef>
                <a:spcPts val="400"/>
              </a:spcBef>
              <a:spcAft>
                <a:spcPts val="200"/>
              </a:spcAft>
              <a:buClr>
                <a:srgbClr val="E8590C"/>
              </a:buClr>
              <a:buChar char="•"/>
            </a:pP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</a:rPr>
              <a:t>手工整理，平均两天</a:t>
            </a:r>
          </a:p>
          <a:p>
            <a:pPr marL="292608" indent="-256032">
              <a:spcBef>
                <a:spcPts val="400"/>
              </a:spcBef>
              <a:spcAft>
                <a:spcPts val="200"/>
              </a:spcAft>
              <a:buClr>
                <a:srgbClr val="E8590C"/>
              </a:buClr>
              <a:buChar char="•"/>
            </a:pP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</a:rPr>
              <a:t>口径不一致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440180"/>
            <a:ext cx="5318621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1" i="0">
                <a:solidFill>
                  <a:srgbClr val="0B2545"/>
                </a:solidFill>
                <a:latin typeface="Calibri"/>
                <a:ea typeface="Microsoft YaHei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034540"/>
            <a:ext cx="5318621" cy="4069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marL="292608" indent="-256032">
              <a:spcBef>
                <a:spcPts val="400"/>
              </a:spcBef>
              <a:spcAft>
                <a:spcPts val="200"/>
              </a:spcAft>
              <a:buClr>
                <a:srgbClr val="E8590C"/>
              </a:buClr>
              <a:buChar char="•"/>
            </a:pP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</a:rPr>
              <a:t>助手自动生成，十分钟</a:t>
            </a:r>
          </a:p>
          <a:p>
            <a:pPr marL="292608" indent="-256032">
              <a:spcBef>
                <a:spcPts val="400"/>
              </a:spcBef>
              <a:spcAft>
                <a:spcPts val="200"/>
              </a:spcAft>
              <a:buClr>
                <a:srgbClr val="E8590C"/>
              </a:buClr>
              <a:buChar char="•"/>
            </a:pP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</a:rPr>
              <a:t>同一份口径，可追溯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26" y="411480"/>
            <a:ext cx="11094443" cy="822960"/>
          </a:xfrm>
          <a:prstGeom prst="rect">
            <a:avLst/>
          </a:prstGeom>
          <a:noFill/>
        </p:spPr>
        <p:txBody>
          <a:bodyPr wrap="square" anchor="b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  <a:ea typeface="Microsoft YaHei"/>
              </a:rPr>
              <a:t>数字页：四个以内的关键指标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26" y="1268730"/>
            <a:ext cx="100584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26" y="6343650"/>
            <a:ext cx="776611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EFP · 内部资料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89" y="634365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40180"/>
            <a:ext cx="2499290" cy="4663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93" y="1813255"/>
            <a:ext cx="1025956" cy="10259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26" y="2932480"/>
            <a:ext cx="2499290" cy="13990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3400" b="1" i="0">
                <a:solidFill>
                  <a:srgbClr val="0B2545"/>
                </a:solidFill>
                <a:latin typeface="Calibri"/>
                <a:ea typeface="Microsoft YaHei"/>
              </a:rPr>
              <a:t>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06" y="4424781"/>
            <a:ext cx="2133530" cy="1605687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ctr"/>
            <a:r>
              <a:rPr sz="1600" b="0" i="0">
                <a:solidFill>
                  <a:srgbClr val="1F2933"/>
                </a:solidFill>
                <a:latin typeface="Calibri"/>
                <a:ea typeface="Microsoft YaHei"/>
              </a:rPr>
              <a:t>周活成员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Calibri"/>
                <a:ea typeface="Microsoft YaHei"/>
              </a:rPr>
              <a:t>较上季 +38%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76" y="1440180"/>
            <a:ext cx="2499290" cy="4663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343" y="1813255"/>
            <a:ext cx="1025956" cy="10259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13676" y="2932480"/>
            <a:ext cx="2499290" cy="13990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3400" b="1" i="0">
                <a:solidFill>
                  <a:srgbClr val="0B2545"/>
                </a:solidFill>
                <a:latin typeface="Calibri"/>
                <a:ea typeface="Microsoft YaHei"/>
              </a:rPr>
              <a:t>97.8%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6556" y="4424781"/>
            <a:ext cx="2133530" cy="1605687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ctr"/>
            <a:r>
              <a:rPr sz="1600" b="0" i="0">
                <a:solidFill>
                  <a:srgbClr val="1F2933"/>
                </a:solidFill>
                <a:latin typeface="Calibri"/>
                <a:ea typeface="Microsoft YaHei"/>
              </a:rPr>
              <a:t>对话成功率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6" y="1440180"/>
            <a:ext cx="2499290" cy="4663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393" y="1813255"/>
            <a:ext cx="1025956" cy="10259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78726" y="2932480"/>
            <a:ext cx="2499290" cy="13990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3400" b="1" i="0">
                <a:solidFill>
                  <a:srgbClr val="0B2545"/>
                </a:solidFill>
                <a:latin typeface="Calibri"/>
                <a:ea typeface="Microsoft YaHei"/>
              </a:rPr>
              <a:t>3.1 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6" y="4424781"/>
            <a:ext cx="2133530" cy="1605687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ctr"/>
            <a:r>
              <a:rPr sz="1600" b="0" i="0">
                <a:solidFill>
                  <a:srgbClr val="1F2933"/>
                </a:solidFill>
                <a:latin typeface="Calibri"/>
                <a:ea typeface="Microsoft YaHei"/>
              </a:rPr>
              <a:t>首字延迟中位数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3776" y="1440180"/>
            <a:ext cx="2499290" cy="4663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443" y="1813255"/>
            <a:ext cx="1025956" cy="10259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3776" y="2932480"/>
            <a:ext cx="2499290" cy="13990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3400" b="1" i="0">
                <a:solidFill>
                  <a:srgbClr val="0B2545"/>
                </a:solidFill>
                <a:latin typeface="Calibri"/>
                <a:ea typeface="Microsoft YaHei"/>
              </a:rP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656" y="4424781"/>
            <a:ext cx="2133530" cy="1605687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ctr"/>
            <a:r>
              <a:rPr sz="1600" b="0" i="0">
                <a:solidFill>
                  <a:srgbClr val="1F2933"/>
                </a:solidFill>
                <a:latin typeface="Calibri"/>
                <a:ea typeface="Microsoft YaHei"/>
              </a:rPr>
              <a:t>生产助手数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26" y="411480"/>
            <a:ext cx="11094443" cy="822960"/>
          </a:xfrm>
          <a:prstGeom prst="rect">
            <a:avLst/>
          </a:prstGeom>
          <a:noFill/>
        </p:spPr>
        <p:txBody>
          <a:bodyPr wrap="square" anchor="b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  <a:ea typeface="Microsoft YaHei"/>
              </a:rPr>
              <a:t>卡片页：三到四个并列的要点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26" y="1268730"/>
            <a:ext cx="100584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26" y="6343650"/>
            <a:ext cx="776611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EFP · 内部资料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89" y="634365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26" y="1440180"/>
            <a:ext cx="3484787" cy="4663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26" y="1668780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26" y="2628900"/>
            <a:ext cx="3027587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  <a:ea typeface="Microsoft YaHei"/>
              </a:rPr>
              <a:t>目标明确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26" y="3268980"/>
            <a:ext cx="3027587" cy="2606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</a:rPr>
              <a:t>每页只回答一个问题，标题即结论。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3" y="1440180"/>
            <a:ext cx="3484787" cy="4663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053" y="1668780"/>
            <a:ext cx="82296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82053" y="2628900"/>
            <a:ext cx="3027587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  <a:ea typeface="Microsoft YaHei"/>
              </a:rPr>
              <a:t>口径一致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2053" y="3268980"/>
            <a:ext cx="3027587" cy="2606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</a:rPr>
              <a:t>数字来自同一数据源，注明时间范围。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80" y="1440180"/>
            <a:ext cx="3484787" cy="4663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880" y="1668780"/>
            <a:ext cx="822960" cy="822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86880" y="2628900"/>
            <a:ext cx="3027587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800" b="1" i="0">
                <a:solidFill>
                  <a:srgbClr val="0B2545"/>
                </a:solidFill>
                <a:latin typeface="Calibri"/>
                <a:ea typeface="Microsoft YaHei"/>
              </a:rPr>
              <a:t>快速迭代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6880" y="3268980"/>
            <a:ext cx="3027587" cy="2606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  <a:ea typeface="Microsoft YaHei"/>
              </a:rPr>
              <a:t>先出第一版再补细节，改 spec 重建即可。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26" y="411480"/>
            <a:ext cx="11094443" cy="822960"/>
          </a:xfrm>
          <a:prstGeom prst="rect">
            <a:avLst/>
          </a:prstGeom>
          <a:noFill/>
        </p:spPr>
        <p:txBody>
          <a:bodyPr wrap="square" anchor="b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  <a:ea typeface="Microsoft YaHei"/>
              </a:rPr>
              <a:t>图表页：标题说明趋势，图表只放一组数据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26" y="1268730"/>
            <a:ext cx="100584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26" y="6343650"/>
            <a:ext cx="776611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EFP · 内部资料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89" y="634365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26" y="1440180"/>
          <a:ext cx="11094443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26" y="411480"/>
            <a:ext cx="11094443" cy="822960"/>
          </a:xfrm>
          <a:prstGeom prst="rect">
            <a:avLst/>
          </a:prstGeom>
          <a:noFill/>
        </p:spPr>
        <p:txBody>
          <a:bodyPr wrap="square" anchor="b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libri"/>
                <a:ea typeface="Microsoft YaHei"/>
              </a:rPr>
              <a:t>表格页：不超过六行五列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26" y="1268730"/>
            <a:ext cx="100584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26" y="6343650"/>
            <a:ext cx="776611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EFP · 内部资料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89" y="634365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26" y="1440180"/>
          <a:ext cx="11094441" cy="156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47"/>
                <a:gridCol w="3698147"/>
                <a:gridCol w="3698147"/>
              </a:tblGrid>
              <a:tr h="3911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供应商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请求数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成本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</a:rPr>
                        <a:t>GitHub Copilot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</a:rPr>
                        <a:t>184,200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</a:rPr>
                        <a:t>$9,120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</a:rPr>
                        <a:t>AI Platform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</a:rPr>
                        <a:t>62,400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</a:rPr>
                        <a:t>$4,368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</a:rPr>
                        <a:t>合计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</a:rPr>
                        <a:t>246,600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</a:rPr>
                        <a:t>$13,488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26" y="1714500"/>
            <a:ext cx="109728" cy="288036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26" y="1508760"/>
            <a:ext cx="9984998" cy="3291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1">
                <a:solidFill>
                  <a:srgbClr val="0B2545"/>
                </a:solidFill>
                <a:latin typeface="Calibri"/>
                <a:ea typeface="Microsoft YaHei"/>
              </a:rPr>
              <a:t>“引用页：一句真实的客户或干系人原话，注明出处。”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26" y="4937760"/>
            <a:ext cx="9984998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  <a:ea typeface="Microsoft YaHei"/>
              </a:rPr>
              <a:t>— 支付小组技术负责人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6343650"/>
            <a:ext cx="776611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EFP · 内部资料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5789" y="634365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26" y="3977639"/>
            <a:ext cx="1463040" cy="7315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26" y="1508760"/>
            <a:ext cx="8875554" cy="2331720"/>
          </a:xfrm>
          <a:prstGeom prst="rect">
            <a:avLst/>
          </a:prstGeom>
          <a:noFill/>
        </p:spPr>
        <p:txBody>
          <a:bodyPr wrap="square" anchor="b" lIns="73152" rIns="73152" tIns="36576" bIns="36576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4183380"/>
            <a:ext cx="8875554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000" b="0" i="0">
                <a:solidFill>
                  <a:srgbClr val="F3F4F6"/>
                </a:solidFill>
                <a:latin typeface="Calibri"/>
                <a:ea typeface="Microsoft YaHei"/>
              </a:rPr>
              <a:t>问题请到 #efp-platform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FP">
      <a:dk1>
        <a:srgbClr val="1F2933"/>
      </a:dk1>
      <a:lt1>
        <a:srgbClr val="FFFFFF"/>
      </a:lt1>
      <a:dk2>
        <a:srgbClr val="0B2545"/>
      </a:dk2>
      <a:lt2>
        <a:srgbClr val="F3F4F6"/>
      </a:lt2>
      <a:accent1>
        <a:srgbClr val="1F6FEB"/>
      </a:accent1>
      <a:accent2>
        <a:srgbClr val="E8590C"/>
      </a:accent2>
      <a:accent3>
        <a:srgbClr val="0F9D8A"/>
      </a:accent3>
      <a:accent4>
        <a:srgbClr val="8E44AD"/>
      </a:accent4>
      <a:accent5>
        <a:srgbClr val="C0392B"/>
      </a:accent5>
      <a:accent6>
        <a:srgbClr val="F2C94C"/>
      </a:accent6>
      <a:hlink>
        <a:srgbClr val="1F6FEB"/>
      </a:hlink>
      <a:folHlink>
        <a:srgbClr val="6B7280"/>
      </a:folHlink>
    </a:clrScheme>
    <a:fontScheme name="Office">
      <a:majorFont>
        <a:latin typeface="Calibri"/>
        <a:ea typeface="Microsoft Ya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EFP">
      <a:dk1>
        <a:srgbClr val="1F2933"/>
      </a:dk1>
      <a:lt1>
        <a:srgbClr val="FFFFFF"/>
      </a:lt1>
      <a:dk2>
        <a:srgbClr val="0B2545"/>
      </a:dk2>
      <a:lt2>
        <a:srgbClr val="F3F4F6"/>
      </a:lt2>
      <a:accent1>
        <a:srgbClr val="1F6FEB"/>
      </a:accent1>
      <a:accent2>
        <a:srgbClr val="E8590C"/>
      </a:accent2>
      <a:accent3>
        <a:srgbClr val="0F9D8A"/>
      </a:accent3>
      <a:accent4>
        <a:srgbClr val="8E44AD"/>
      </a:accent4>
      <a:accent5>
        <a:srgbClr val="C0392B"/>
      </a:accent5>
      <a:accent6>
        <a:srgbClr val="F2C94C"/>
      </a:accent6>
      <a:hlink>
        <a:srgbClr val="1F6FEB"/>
      </a:hlink>
      <a:folHlink>
        <a:srgbClr val="6B7280"/>
      </a:folHlink>
    </a:clrScheme>
    <a:fontScheme name="Office">
      <a:majorFont>
        <a:latin typeface="Calibri"/>
        <a:ea typeface="Microsoft Ya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EFP 企业演示模板</dc:title>
  <dc:subject/>
  <dc:creator>平台团队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